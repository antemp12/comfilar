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463040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Segoe UI"/>
              </a:rPr>
              <a:t>Comfilar</a:t>
            </a:r>
          </a:p>
          <a:p>
            <a:r>
              <a:rPr sz="2600" b="0" i="0">
                <a:solidFill>
                  <a:srgbClr val="60A5FA"/>
                </a:solidFill>
                <a:latin typeface="Segoe UI"/>
              </a:rPr>
              <a:t>Plataforma de e-commerce de materiais de construção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C7D2E0"/>
                </a:solidFill>
                <a:latin typeface="Segoe UI"/>
              </a:rPr>
              <a:t>Desenvolvimento de uma aplicação web full-stack (Next.js · TypeScript · MySQL)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7D2E0"/>
                </a:solidFill>
                <a:latin typeface="Segoe UI"/>
              </a:rPr>
              <a:t>Autor(es): [PREENCHER]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7D2E0"/>
                </a:solidFill>
                <a:latin typeface="Segoe UI"/>
              </a:rPr>
              <a:t>Disciplina / Curso: [PREENCHER]      Docente: [PREENCHER]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7D2E0"/>
                </a:solidFill>
                <a:latin typeface="Segoe UI"/>
              </a:rPr>
              <a:t>Data: [PREENCHER]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Índice</a:t>
            </a:r>
          </a:p>
          <a:p>
            <a:r>
              <a:rPr sz="1500" b="0" i="0">
                <a:solidFill>
                  <a:srgbClr val="60A5FA"/>
                </a:solidFill>
                <a:latin typeface="Segoe UI"/>
              </a:rPr>
              <a:t>Estrutura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05840"/>
            <a:ext cx="694944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2200" b="1" i="0">
                <a:solidFill>
                  <a:srgbClr val="2563EB"/>
                </a:solidFill>
                <a:latin typeface="Segoe UI"/>
              </a:rPr>
              <a:t>01   </a:t>
            </a:r>
            <a:r>
              <a:rPr sz="2200" b="0" i="0">
                <a:solidFill>
                  <a:srgbClr val="1F2937"/>
                </a:solidFill>
                <a:latin typeface="Segoe UI"/>
              </a:rPr>
              <a:t>Objetivos do trabalho</a:t>
            </a:r>
          </a:p>
          <a:p>
            <a:pPr>
              <a:spcAft>
                <a:spcPts val="1200"/>
              </a:spcAft>
            </a:pPr>
            <a:r>
              <a:rPr sz="2200" b="1" i="0">
                <a:solidFill>
                  <a:srgbClr val="2563EB"/>
                </a:solidFill>
                <a:latin typeface="Segoe UI"/>
              </a:rPr>
              <a:t>02   </a:t>
            </a:r>
            <a:r>
              <a:rPr sz="2200" b="0" i="0">
                <a:solidFill>
                  <a:srgbClr val="1F2937"/>
                </a:solidFill>
                <a:latin typeface="Segoe UI"/>
              </a:rPr>
              <a:t>Apresentação da empresa</a:t>
            </a:r>
          </a:p>
          <a:p>
            <a:pPr>
              <a:spcAft>
                <a:spcPts val="1200"/>
              </a:spcAft>
            </a:pPr>
            <a:r>
              <a:rPr sz="2200" b="1" i="0">
                <a:solidFill>
                  <a:srgbClr val="2563EB"/>
                </a:solidFill>
                <a:latin typeface="Segoe UI"/>
              </a:rPr>
              <a:t>03   </a:t>
            </a:r>
            <a:r>
              <a:rPr sz="2200" b="0" i="0">
                <a:solidFill>
                  <a:srgbClr val="1F2937"/>
                </a:solidFill>
                <a:latin typeface="Segoe UI"/>
              </a:rPr>
              <a:t>Pesquisa de mercado</a:t>
            </a:r>
          </a:p>
          <a:p>
            <a:pPr>
              <a:spcAft>
                <a:spcPts val="1200"/>
              </a:spcAft>
            </a:pPr>
            <a:r>
              <a:rPr sz="2200" b="1" i="0">
                <a:solidFill>
                  <a:srgbClr val="2563EB"/>
                </a:solidFill>
                <a:latin typeface="Segoe UI"/>
              </a:rPr>
              <a:t>04   </a:t>
            </a:r>
            <a:r>
              <a:rPr sz="2200" b="0" i="0">
                <a:solidFill>
                  <a:srgbClr val="1F2937"/>
                </a:solidFill>
                <a:latin typeface="Segoe UI"/>
              </a:rPr>
              <a:t>Arquitetura do trabalho</a:t>
            </a:r>
          </a:p>
          <a:p>
            <a:pPr>
              <a:spcAft>
                <a:spcPts val="1200"/>
              </a:spcAft>
            </a:pPr>
            <a:r>
              <a:rPr sz="2200" b="1" i="0">
                <a:solidFill>
                  <a:srgbClr val="2563EB"/>
                </a:solidFill>
                <a:latin typeface="Segoe UI"/>
              </a:rPr>
              <a:t>05   </a:t>
            </a:r>
            <a:r>
              <a:rPr sz="2200" b="0" i="0">
                <a:solidFill>
                  <a:srgbClr val="1F2937"/>
                </a:solidFill>
                <a:latin typeface="Segoe UI"/>
              </a:rPr>
              <a:t>Funcionalidades da plataforma</a:t>
            </a:r>
          </a:p>
          <a:p>
            <a:pPr>
              <a:spcAft>
                <a:spcPts val="1200"/>
              </a:spcAft>
            </a:pPr>
            <a:r>
              <a:rPr sz="2200" b="1" i="0">
                <a:solidFill>
                  <a:srgbClr val="2563EB"/>
                </a:solidFill>
                <a:latin typeface="Segoe UI"/>
              </a:rPr>
              <a:t>06   </a:t>
            </a:r>
            <a:r>
              <a:rPr sz="2200" b="0" i="0">
                <a:solidFill>
                  <a:srgbClr val="1F2937"/>
                </a:solidFill>
                <a:latin typeface="Segoe UI"/>
              </a:rPr>
              <a:t>Questionário de satisfação</a:t>
            </a:r>
          </a:p>
          <a:p>
            <a:pPr>
              <a:spcAft>
                <a:spcPts val="1200"/>
              </a:spcAft>
            </a:pPr>
            <a:r>
              <a:rPr sz="2200" b="1" i="0">
                <a:solidFill>
                  <a:srgbClr val="2563EB"/>
                </a:solidFill>
                <a:latin typeface="Segoe UI"/>
              </a:rPr>
              <a:t>07   </a:t>
            </a:r>
            <a:r>
              <a:rPr sz="2200" b="0" i="0">
                <a:solidFill>
                  <a:srgbClr val="1F2937"/>
                </a:solidFill>
                <a:latin typeface="Segoe UI"/>
              </a:rPr>
              <a:t>Conclusões e trabalho futuro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0" b="1" i="0">
                <a:solidFill>
                  <a:srgbClr val="1E293B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800" b="1" i="0">
                <a:solidFill>
                  <a:srgbClr val="2563EB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51760"/>
            <a:ext cx="7589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Objetivos do trabalho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Objetivos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Segoe UI"/>
              </a:rPr>
              <a:t>O que o projeto se propõe a alcançar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Desenvolver uma plataforma de e-commerce funcional para uma empresa de materiais de construção.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Digitalizar o processo de venda, orçamentação e atendimento ao cliente.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Centralizar catálogo, encomendas, reuniões e comunicação num só sistema.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Aplicar e consolidar competências de desenvolvimento web full-stack.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Objetivos específicos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Catálogo de produtos com pesquisa e filtros por categoria/atributos.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Carrinho de compras e processo de checkout em vários passos.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Pedidos de orçamento e gestão do ciclo de vida da encomenda.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Agendamento de reuniões com disponibilidade em tempo real.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Sistema de notificações no site e por email.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Painel de administração para gestão do negócio.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Distinção de perfis: cliente, funcionário e administrador.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0" b="1" i="0">
                <a:solidFill>
                  <a:srgbClr val="1E293B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800" b="1" i="0">
                <a:solidFill>
                  <a:srgbClr val="2563EB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51760"/>
            <a:ext cx="7589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Apresentação da empresa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A empresa — Comfilar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Segoe UI"/>
              </a:rPr>
              <a:t>Quem é a empresa por trás da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Nome: Comfilar — Materiais de Construção.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Área de atividade: comércio de materiais de construção.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Ano de fundação: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Localização / área de operação: [PREENCHER] — entrega em todo o país e ao estrangeiro.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Missão: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Visão e valores: [PREENCHER].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Produtos, serviços e público-alvo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Produtos: [PREENCHER — ex.: cimento, ferro, isolamentos, ferramentas...].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Serviços: venda online, orçamentos personalizados, aconselhamento técnico e entrega.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Público-alvo: [PREENCHER — ex.: construtoras, profissionais e particulares].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8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4748B"/>
                </a:solidFill>
                <a:latin typeface="Segoe UI"/>
              </a:rPr>
              <a:t>Proposta de valor: catálogo online + apoio técnico + entrega nacional e internacional.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0" b="1" i="0">
                <a:solidFill>
                  <a:srgbClr val="1E293B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800" b="1" i="0">
                <a:solidFill>
                  <a:srgbClr val="2563EB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51760"/>
            <a:ext cx="7589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Pesquisa de mercado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Enquadramento do setor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Segoe UI"/>
              </a:rPr>
              <a:t>Contexto e oportunidade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Dimensão do setor da construção em Portugal: [PREENCHER dados e fonte].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Tendência de digitalização das compras (B2B e B2C):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Comportamento do consumidor / hábitos de compra online: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Oportunidade identificada para a Comfilar: [PREENCHER].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8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600" b="0" i="0">
                <a:solidFill>
                  <a:srgbClr val="64748B"/>
                </a:solidFill>
                <a:latin typeface="Segoe UI"/>
              </a:rPr>
              <a:t>Fontes a citar: INE, relatórios setoriais, associações do setor — [PREENCHER].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Análise da concorrência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Concorrente A: [PREENCHER] — pontos fortes/fracos: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Concorrente B: [PREENCHER] — pontos fortes/fracos: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Concorrente C: [PREENCHER] — pontos fortes/fracos: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Fator de diferenciação da Comfilar: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7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Agendamento de reuniões, orçamentos e apoio técnico integrados na própria plataforma.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7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Entrega nacional e ao estrangeiro.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Análise SWOT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212080" cy="4480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16A34A"/>
                </a:solidFill>
                <a:latin typeface="Segoe UI"/>
              </a:rPr>
              <a:t>Forças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Plataforma própria e à medida.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Apoio técnico e orçamentos.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Entrega nacional e internacional.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[PREENCHER].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212080" cy="4480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EF4444"/>
                </a:solidFill>
                <a:latin typeface="Segoe UI"/>
              </a:rPr>
              <a:t>Fraquezas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663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[PREENCHER — ex.: notoriedade de marca].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[PREENCHER — ex.: pagamentos online].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[PREENCHER].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Análise SWOT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212080" cy="4480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2563EB"/>
                </a:solidFill>
                <a:latin typeface="Segoe UI"/>
              </a:rPr>
              <a:t>Oportunidades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Digitalização do setor.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Expansão a novos mercados (estrangeiro).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[PREENCHER].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212080" cy="4480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F59E0B"/>
                </a:solidFill>
                <a:latin typeface="Segoe UI"/>
              </a:rPr>
              <a:t>Ameaças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663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Concorrência de grandes superfícies.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[PREENCHER — ex.: variação de preços].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[PREENCHER].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0" b="1" i="0">
                <a:solidFill>
                  <a:srgbClr val="1E293B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800" b="1" i="0">
                <a:solidFill>
                  <a:srgbClr val="2563EB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51760"/>
            <a:ext cx="7589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Arquitetura do trabalho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Segoe UI"/>
              </a:rPr>
              <a:t>Tecnologias utilizadas no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Frontend: Next.js (App Router) + React + TypeScript.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Interface: Tailwind CSS + componentes (Radix UI).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Backend: API Routes do Next.js (Node.js).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Base de dados: MySQL / MariaDB.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ORM: Drizzle ORM.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Autenticação: JWT + cookies (perfis de utilizador).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Email transacional: Resend.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Arquitetura em camadas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554480"/>
            <a:ext cx="7498079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554480"/>
            <a:ext cx="7132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Segoe UI"/>
              </a:rPr>
              <a:t>Apresentação (UI)</a:t>
            </a:r>
          </a:p>
          <a:p>
            <a:r>
              <a:rPr sz="1200" b="0" i="0">
                <a:solidFill>
                  <a:srgbClr val="DBE6FB"/>
                </a:solidFill>
                <a:latin typeface="Segoe UI"/>
              </a:rPr>
              <a:t>Páginas e componentes React · Tailwind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606040"/>
            <a:ext cx="7498079" cy="868680"/>
          </a:xfrm>
          <a:prstGeom prst="rect">
            <a:avLst/>
          </a:prstGeom>
          <a:solidFill>
            <a:srgbClr val="357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606040"/>
            <a:ext cx="7132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Segoe UI"/>
              </a:rPr>
              <a:t>Aplicação (API)</a:t>
            </a:r>
          </a:p>
          <a:p>
            <a:r>
              <a:rPr sz="1200" b="0" i="0">
                <a:solidFill>
                  <a:srgbClr val="DBE6FB"/>
                </a:solidFill>
                <a:latin typeface="Segoe UI"/>
              </a:rPr>
              <a:t>API Routes · lógica de negócio · autenticação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657600"/>
            <a:ext cx="7498079" cy="868680"/>
          </a:xfrm>
          <a:prstGeom prst="rect">
            <a:avLst/>
          </a:prstGeom>
          <a:solidFill>
            <a:srgbClr val="478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657600"/>
            <a:ext cx="7132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Segoe UI"/>
              </a:rPr>
              <a:t>Dados (ORM)</a:t>
            </a:r>
          </a:p>
          <a:p>
            <a:r>
              <a:rPr sz="1200" b="0" i="0">
                <a:solidFill>
                  <a:srgbClr val="DBE6FB"/>
                </a:solidFill>
                <a:latin typeface="Segoe UI"/>
              </a:rPr>
              <a:t>Drizzle ORM · consultas e validação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709160"/>
            <a:ext cx="7498079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709160"/>
            <a:ext cx="7132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Segoe UI"/>
              </a:rPr>
              <a:t>Base de dados</a:t>
            </a:r>
          </a:p>
          <a:p>
            <a:r>
              <a:rPr sz="1200" b="0" i="0">
                <a:solidFill>
                  <a:srgbClr val="DBE6FB"/>
                </a:solidFill>
                <a:latin typeface="Segoe UI"/>
              </a:rPr>
              <a:t>MySQL / MariaDB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554480"/>
            <a:ext cx="2377440" cy="397763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737360"/>
            <a:ext cx="2103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0F172A"/>
                </a:solidFill>
                <a:latin typeface="Segoe UI"/>
              </a:rPr>
              <a:t>Serviços externos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64748B"/>
                </a:solidFill>
                <a:latin typeface="Segoe UI"/>
              </a:rPr>
              <a:t>Email (Resend)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64748B"/>
                </a:solidFill>
                <a:latin typeface="Segoe UI"/>
              </a:rPr>
              <a:t>Upload de imagens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64748B"/>
                </a:solidFill>
                <a:latin typeface="Segoe UI"/>
              </a:rPr>
              <a:t>[PREENCHER]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Modelo de dados — principais entidades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utilizador — perfis: cliente, funcionário e administrador.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categoria / subcategoria — com atributos por categoria.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material (produto) — com imagens, preço e stock.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pedido (encomenda) — com itens e estado.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pedido_reuniao — agendamentos de reuniões.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orçamento (quotes) — pedidos convertíveis em encomenda.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notificacoes — avisos no site e por email.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site_settings — configurações (ex.: disponibilidade de reuniões).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Perfis de utilizador e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Cliente: compra, orçamentos, reuniões e notificações.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Funcionário: gestão de encomendas, reuniões e mensagens.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Administrador: gestão completa (produtos, categorias, utilizadores, configurações).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Segurança: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7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Autenticação por token (JWT) e controlo de acesso por perfil.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7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Validação no servidor das operações sensíveis.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0" b="1" i="0">
                <a:solidFill>
                  <a:srgbClr val="1E293B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800" b="1" i="0">
                <a:solidFill>
                  <a:srgbClr val="2563EB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51760"/>
            <a:ext cx="7589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Funcionalidades da plataforma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Catálogo 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Segoe UI"/>
              </a:rPr>
              <a:t>Como o cliente encontra os materiais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Navegação por categorias e subcategorias.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Pesquisa e filtros por atributos do produto.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Página de produto com imagens, stock e preço.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Produtos e categorias em destaque na página inicial.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Carrinho e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Carrinho lateral com edição direta de quantidades.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Checkout em 3 passos: informações → itens → confirmação.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Cálculo automático de subtotal e total.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Opção de agendar uma reunião durante o checkout.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Orçamentos e encomendas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Pedido de orçamento e conversão em encomenda.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Estados da encomenda: pendente → confirmado → preparação → enviado → entregue.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Acompanhamento pelo cliente em «As minhas encomendas».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Gestão e atualização de estado pelo staff.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Agendamento de reuniões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Disponibilidade definida pelo admin (dias, horas e slots de 30 min).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Calendário no checkout com dias livres (verde), ocupados (vermelho) e indisponíveis.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Horas já ocupadas são desativadas automaticamente.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Aprovação ou rejeição pelo staff, com notificação ao cliente.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Sistema de notificações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Notificações no site e por email (Resend).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Cor consoante o estado: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6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4748B"/>
                </a:solidFill>
                <a:latin typeface="Segoe UI"/>
              </a:rPr>
              <a:t>Amarelo — pendente / em processo.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6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4748B"/>
                </a:solidFill>
                <a:latin typeface="Segoe UI"/>
              </a:rPr>
              <a:t>Verde — sucesso / aprovado.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6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64748B"/>
                </a:solidFill>
                <a:latin typeface="Segoe UI"/>
              </a:rPr>
              <a:t>Vermelho — cancelado.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Contador de não lidas, marcar como lida e tempos em português (pt-PT).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Avisos ao staff sobre novos pedidos e reuniões.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Painel de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Dashboard com métricas e ações rápidas.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Gestão de produtos (com upload de fotos), categorias e atributos.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Gestão de encomendas, reuniões e utilizadores.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Configurações do site (imagens de fundo, disponibilidade de reuniões).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0" b="1" i="0">
                <a:solidFill>
                  <a:srgbClr val="1E293B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800" b="1" i="0">
                <a:solidFill>
                  <a:srgbClr val="2563EB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51760"/>
            <a:ext cx="7589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Questionário de satisfação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Metodologia do questionário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Segoe UI"/>
              </a:rPr>
              <a:t>Como foi avaliada a experiência dos utilizadores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Objetivo: avaliar a satisfação e a usabilidade da plataforma.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Amostra: [PREENCHER — nº de respondentes e perfil].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Instrumento: [PREENCHER — ex.: Google Forms, escala de Likert 1–5].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Período de recolha: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Questões-chave: facilidade de uso, rapidez, clareza e satisfação global.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Resultados do questionário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Facilidade de utilização: [PREENCHER — média / %].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Rapidez do processo de compra: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Clareza do catálogo e dos orçamentos: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Satisfação global / recomendação (NPS): [PREENCHER].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1F2937"/>
                </a:solidFill>
                <a:latin typeface="Segoe UI"/>
              </a:rPr>
              <a:t>Principais sugestões recolhidas: [PREENCHER].</a:t>
            </a:r>
          </a:p>
          <a:p>
            <a:pPr lvl="1">
              <a:spcBef>
                <a:spcPts val="200"/>
              </a:spcBef>
              <a:spcAft>
                <a:spcPts val="300"/>
              </a:spcAft>
            </a:pPr>
            <a:r>
              <a:rPr sz="1700" b="1" i="0">
                <a:solidFill>
                  <a:srgbClr val="60A5FA"/>
                </a:solidFill>
                <a:latin typeface="Segoe UI"/>
              </a:rPr>
              <a:t>–  </a:t>
            </a:r>
            <a:r>
              <a:rPr sz="1500" b="0" i="0">
                <a:solidFill>
                  <a:srgbClr val="64748B"/>
                </a:solidFill>
                <a:latin typeface="Segoe UI"/>
              </a:rPr>
              <a:t>[Inserir aqui gráficos de barras/circular com os resultados.]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0" b="1" i="0">
                <a:solidFill>
                  <a:srgbClr val="1E293B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800" b="1" i="0">
                <a:solidFill>
                  <a:srgbClr val="2563EB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51760"/>
            <a:ext cx="7589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Conclusões e trabalho futuro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Conclusões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Segoe UI"/>
              </a:rPr>
              <a:t>Balanço do trabalho realizado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Objetivos cumpridos: plataforma funcional de ponta a ponta.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Integração de catálogo, checkout, orçamentos, reuniões e administração.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Aprendizagens técnicas: Next.js, TypeScript, ORM e autenticação.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Principais desafios enfrentados: [PREENCHER].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Trabalho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Pagamentos online (integração com gateway).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Aplicação móvel / PWA.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Gestão de stock e faturação integradas.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Recomendações personalizadas de produtos.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Melhorias de SEO e desempenho.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Internacionalização (multi-idioma e multi-moeda).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Comfilar · [PREENCHER disciplina/curso]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Segoe UI"/>
              </a:rPr>
              <a:t>Obrigado!</a:t>
            </a:r>
          </a:p>
          <a:p>
            <a:r>
              <a:rPr sz="2200" b="0" i="0">
                <a:solidFill>
                  <a:srgbClr val="60A5FA"/>
                </a:solidFill>
                <a:latin typeface="Segoe UI"/>
              </a:rPr>
              <a:t>Perguntas e discussão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C7D2E0"/>
                </a:solidFill>
                <a:latin typeface="Segoe UI"/>
              </a:rPr>
              <a:t>Contactos: [PREENCHER]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C7D2E0"/>
                </a:solidFill>
                <a:latin typeface="Segoe UI"/>
              </a:rPr>
              <a:t>Comfilar — Materiais de Construção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